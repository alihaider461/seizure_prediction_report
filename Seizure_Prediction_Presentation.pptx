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Train vs Validation F1 (DS1)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F1</c:v>
                </c:pt>
              </c:strCache>
            </c:strRef>
          </c:tx>
          <c:spPr>
            <a:solidFill>
              <a:srgbClr val="00A896"/>
            </a:solidFill>
            <a:ln w="38100" cap="flat">
              <a:solidFill>
                <a:srgbClr val="00A8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1e-5</c:v>
                  </c:pt>
                  <c:pt idx="1">
                    <c:v>1e-4</c:v>
                  </c:pt>
                  <c:pt idx="2">
                    <c:v>0.001</c:v>
                  </c:pt>
                  <c:pt idx="3">
                    <c:v>0.01</c:v>
                  </c:pt>
                  <c:pt idx="4">
                    <c:v>0.1</c:v>
                  </c:pt>
                  <c:pt idx="5">
                    <c:v>1</c:v>
                  </c:pt>
                  <c:pt idx="6">
                    <c:v>10</c:v>
                  </c:pt>
                  <c:pt idx="7">
                    <c:v>100</c:v>
                  </c:pt>
                  <c:pt idx="8">
                    <c:v>1000</c:v>
                  </c:pt>
                  <c:pt idx="9">
                    <c:v>10000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0.0087</c:v>
                </c:pt>
                <c:pt idx="3">
                  <c:v>0.0519</c:v>
                </c:pt>
                <c:pt idx="4">
                  <c:v>0.0863</c:v>
                </c:pt>
                <c:pt idx="5">
                  <c:v>0.1001</c:v>
                </c:pt>
                <c:pt idx="6">
                  <c:v>0.104</c:v>
                </c:pt>
                <c:pt idx="7">
                  <c:v>0.105</c:v>
                </c:pt>
                <c:pt idx="8">
                  <c:v>0.106</c:v>
                </c:pt>
                <c:pt idx="9">
                  <c:v>0.105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F1</c:v>
                </c:pt>
              </c:strCache>
            </c:strRef>
          </c:tx>
          <c:spPr>
            <a:solidFill>
              <a:srgbClr val="F97316"/>
            </a:solidFill>
            <a:ln w="38100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1e-5</c:v>
                  </c:pt>
                  <c:pt idx="1">
                    <c:v>1e-4</c:v>
                  </c:pt>
                  <c:pt idx="2">
                    <c:v>0.001</c:v>
                  </c:pt>
                  <c:pt idx="3">
                    <c:v>0.01</c:v>
                  </c:pt>
                  <c:pt idx="4">
                    <c:v>0.1</c:v>
                  </c:pt>
                  <c:pt idx="5">
                    <c:v>1</c:v>
                  </c:pt>
                  <c:pt idx="6">
                    <c:v>10</c:v>
                  </c:pt>
                  <c:pt idx="7">
                    <c:v>100</c:v>
                  </c:pt>
                  <c:pt idx="8">
                    <c:v>1000</c:v>
                  </c:pt>
                  <c:pt idx="9">
                    <c:v>10000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0.0258</c:v>
                </c:pt>
                <c:pt idx="4">
                  <c:v>0.0426</c:v>
                </c:pt>
                <c:pt idx="5">
                  <c:v>0.0508</c:v>
                </c:pt>
                <c:pt idx="6">
                  <c:v>0.055</c:v>
                </c:pt>
                <c:pt idx="7">
                  <c:v>0.055</c:v>
                </c:pt>
                <c:pt idx="8">
                  <c:v>0.055</c:v>
                </c:pt>
                <c:pt idx="9">
                  <c:v>0.055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 Value (regularisation strength →)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Weight Sparsity % by Regulariser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L1 (Lasso)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DS1</c:v>
                  </c:pt>
                  <c:pt idx="1">
                    <c:v>DS2</c:v>
                  </c:pt>
                  <c:pt idx="2">
                    <c:v>DS3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</c:v>
                </c:pt>
                <c:pt idx="1">
                  <c:v>95</c:v>
                </c:pt>
                <c:pt idx="2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L2 (Ridge)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DS1</c:v>
                  </c:pt>
                  <c:pt idx="1">
                    <c:v>DS2</c:v>
                  </c:pt>
                  <c:pt idx="2">
                    <c:v>DS3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Elastic Net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DS1</c:v>
                  </c:pt>
                  <c:pt idx="1">
                    <c:v>DS2</c:v>
                  </c:pt>
                  <c:pt idx="2">
                    <c:v>DS3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35</c:v>
                </c:pt>
                <c:pt idx="2">
                  <c:v>37.5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Recall vs Accuracy Trade-off (DS1)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 Handling</c:v>
                  </c:pt>
                  <c:pt idx="1">
                    <c:v>SMOTE</c:v>
                  </c:pt>
                  <c:pt idx="2">
                    <c:v>Undersampling</c:v>
                  </c:pt>
                  <c:pt idx="3">
                    <c:v>Class Weighting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0.026</c:v>
                </c:pt>
                <c:pt idx="1">
                  <c:v>0.437</c:v>
                </c:pt>
                <c:pt idx="2">
                  <c:v>0.43</c:v>
                </c:pt>
                <c:pt idx="3">
                  <c:v>0.428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 Handling</c:v>
                  </c:pt>
                  <c:pt idx="1">
                    <c:v>SMOTE</c:v>
                  </c:pt>
                  <c:pt idx="2">
                    <c:v>Undersampling</c:v>
                  </c:pt>
                  <c:pt idx="3">
                    <c:v>Class Weighting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0.805</c:v>
                </c:pt>
                <c:pt idx="1">
                  <c:v>0.644</c:v>
                </c:pt>
                <c:pt idx="2">
                  <c:v>0.644</c:v>
                </c:pt>
                <c:pt idx="3">
                  <c:v>0.666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F1 Score by Regulariser &amp; Imbalance Strategy (DS1)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Handling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L1</c:v>
                  </c:pt>
                  <c:pt idx="1">
                    <c:v>L2</c:v>
                  </c:pt>
                  <c:pt idx="2">
                    <c:v>Elastic Net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0.0467</c:v>
                </c:pt>
                <c:pt idx="1">
                  <c:v>0.0508</c:v>
                </c:pt>
                <c:pt idx="2">
                  <c:v>0.0467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SMOTE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L1</c:v>
                  </c:pt>
                  <c:pt idx="1">
                    <c:v>L2</c:v>
                  </c:pt>
                  <c:pt idx="2">
                    <c:v>Elastic Net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0.3292</c:v>
                </c:pt>
                <c:pt idx="1">
                  <c:v>0.3298</c:v>
                </c:pt>
                <c:pt idx="2">
                  <c:v>0.3301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Class Weight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L1</c:v>
                  </c:pt>
                  <c:pt idx="1">
                    <c:v>L2</c:v>
                  </c:pt>
                  <c:pt idx="2">
                    <c:v>Elastic Net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0.3414</c:v>
                </c:pt>
                <c:pt idx="1">
                  <c:v>0.3391</c:v>
                </c:pt>
                <c:pt idx="2">
                  <c:v>0.3382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474720"/>
            <a:ext cx="1280160" cy="12801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822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EEG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" y="1554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SEIZURE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PREDICTION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201168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ML Research Project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91440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Effect of Preprocessing Choices,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Model Complexity &amp; Regularisation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on Generalisation Performance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0" y="25603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</a:rPr>
              <a:t>Muhammad Ali Haider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8803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4"/>
                </a:solidFill>
              </a:rPr>
              <a:t>BSCS 6th Semester  |  Machine Learning  |  Spring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31546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4"/>
                </a:solidFill>
              </a:rPr>
              <a:t>Institute of Management Sciences (IMSciences), Peshawar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4206240"/>
            <a:ext cx="182880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IEEE FORMAT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Research Questions &amp; Study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</a:rPr>
              <a:t>Four core questions investigated across 3 datasets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777240" cy="10058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88720"/>
            <a:ext cx="777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RQ1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2801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Does preprocessing order affect model performance?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88720"/>
            <a:ext cx="777240" cy="10058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188720"/>
            <a:ext cx="777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RQ2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2801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Which regularisation generalises best across datasets?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77440"/>
            <a:ext cx="777240" cy="10058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377440"/>
            <a:ext cx="777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RQ3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2468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Does Elastic Net consistently outperform L1 and L2?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37744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377440"/>
            <a:ext cx="777240" cy="10058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377440"/>
            <a:ext cx="777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RQ4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32120" y="2468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How does class imbalance handling interact with regularisation?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749040"/>
            <a:ext cx="8412480" cy="822960"/>
          </a:xfrm>
          <a:prstGeom prst="rect">
            <a:avLst/>
          </a:prstGeom>
          <a:solidFill>
            <a:srgbClr val="1B2F45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</a:rPr>
              <a:t>Approach:  Logistic Regression  ·  3 Real EEG Datasets  ·  2 Preprocessing Pipelines  ·  3 Regularisers  ·  4 Imbalance Strategies  ·  27 Experiments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</a:rPr>
              <a:t>Three real-world EEG datasets with complementary characteristics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6517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2651760" cy="5943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058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DS1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005840"/>
            <a:ext cx="20116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UCI Epileptic Seizure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6916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B4C4"/>
                </a:solidFill>
              </a:rPr>
              <a:t>Samples: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1691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11,500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0756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B4C4"/>
                </a:solidFill>
              </a:rPr>
              <a:t>Features: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17320" y="20756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178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4597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B4C4"/>
                </a:solidFill>
              </a:rPr>
              <a:t>Imbalance: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24597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1:4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8437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B4C4"/>
                </a:solidFill>
              </a:rPr>
              <a:t>Type: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28437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Raw EEG time-series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2468880" cy="36576"/>
          </a:xfrm>
          <a:prstGeom prst="rect">
            <a:avLst/>
          </a:prstGeom>
          <a:solidFill>
            <a:srgbClr val="E2EBF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37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B4C4"/>
                </a:solidFill>
              </a:rPr>
              <a:t>Benchmark dataset; 1s segments; binarised from 5-class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1005840"/>
            <a:ext cx="26517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005840"/>
            <a:ext cx="265176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10058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DS2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40480" y="1005840"/>
            <a:ext cx="20116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Clinical EEG Features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16916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B4C4"/>
                </a:solidFill>
              </a:rPr>
              <a:t>Samples: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51960" y="1691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4,500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20756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B4C4"/>
                </a:solidFill>
              </a:rPr>
              <a:t>Features: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51960" y="20756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33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24597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B4C4"/>
                </a:solidFill>
              </a:rPr>
              <a:t>Imbalance: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51960" y="24597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2.4:1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37560" y="28437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B4C4"/>
                </a:solidFill>
              </a:rPr>
              <a:t>Type: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51960" y="28437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Clinical / demographic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3291840"/>
            <a:ext cx="2468880" cy="36576"/>
          </a:xfrm>
          <a:prstGeom prst="rect">
            <a:avLst/>
          </a:prstGeom>
          <a:solidFill>
            <a:srgbClr val="E2EBF0"/>
          </a:solidFill>
          <a:ln/>
        </p:spPr>
      </p:sp>
      <p:sp>
        <p:nvSpPr>
          <p:cNvPr id="33" name="Text 31"/>
          <p:cNvSpPr/>
          <p:nvPr/>
        </p:nvSpPr>
        <p:spPr>
          <a:xfrm>
            <a:off x="3291840" y="3337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B4C4"/>
                </a:solidFill>
              </a:rPr>
              <a:t>Mixed types; label-encoded; most imbalanced dataset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35040" y="1005840"/>
            <a:ext cx="26517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1005840"/>
            <a:ext cx="2651760" cy="594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6035040" y="10058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DS3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675120" y="1005840"/>
            <a:ext cx="20116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Statistical EEG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72200" y="16916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B4C4"/>
                </a:solidFill>
              </a:rPr>
              <a:t>Samples: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86600" y="1691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200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72200" y="20756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B4C4"/>
                </a:solidFill>
              </a:rPr>
              <a:t>Features: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086600" y="20756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11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72200" y="24597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B4C4"/>
                </a:solidFill>
              </a:rPr>
              <a:t>Imbalance: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086600" y="24597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1:1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72200" y="28437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B4C4"/>
                </a:solidFill>
              </a:rPr>
              <a:t>Type: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086600" y="28437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Statistical features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26480" y="3291840"/>
            <a:ext cx="2468880" cy="36576"/>
          </a:xfrm>
          <a:prstGeom prst="rect">
            <a:avLst/>
          </a:prstGeom>
          <a:solidFill>
            <a:srgbClr val="E2EBF0"/>
          </a:solidFill>
          <a:ln/>
        </p:spPr>
      </p:sp>
      <p:sp>
        <p:nvSpPr>
          <p:cNvPr id="47" name="Text 45"/>
          <p:cNvSpPr/>
          <p:nvPr/>
        </p:nvSpPr>
        <p:spPr>
          <a:xfrm>
            <a:off x="6126480" y="3337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B4C4"/>
                </a:solidFill>
              </a:rPr>
              <a:t>Perfectly balanced; low-dim; clean separable space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Methodology — Preprocessing Pipelines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</a:rPr>
              <a:t>Two distinct pipelines compared across all datasets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9776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397764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058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Pipeline 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3520440" cy="438912"/>
          </a:xfrm>
          <a:prstGeom prst="rect">
            <a:avLst/>
          </a:prstGeom>
          <a:solidFill>
            <a:srgbClr val="EBF8F6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00200"/>
            <a:ext cx="352044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1.  StandardScaler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03911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</a:rPr>
              <a:t>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258568"/>
            <a:ext cx="3520440" cy="438912"/>
          </a:xfrm>
          <a:prstGeom prst="rect">
            <a:avLst/>
          </a:prstGeom>
          <a:solidFill>
            <a:srgbClr val="EBF8F6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58568"/>
            <a:ext cx="352044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2.  SelectKBest (Mutual Info)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69748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</a:rPr>
              <a:t>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2916936"/>
            <a:ext cx="3520440" cy="438912"/>
          </a:xfrm>
          <a:prstGeom prst="rect">
            <a:avLst/>
          </a:prstGeom>
          <a:solidFill>
            <a:srgbClr val="EBF8F6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16936"/>
            <a:ext cx="352044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3.  Logistic Regression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4290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B4C4"/>
                </a:solidFill>
              </a:rPr>
              <a:t>k = 30 (DS1) · 20 (DS2) · 8 (DS3)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1005840"/>
            <a:ext cx="39776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005840"/>
            <a:ext cx="397764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0058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Pipeline B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0" y="1600200"/>
            <a:ext cx="3520440" cy="438912"/>
          </a:xfrm>
          <a:prstGeom prst="rect">
            <a:avLst/>
          </a:prstGeom>
          <a:solidFill>
            <a:srgbClr val="EBF0F8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600200"/>
            <a:ext cx="352044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1.  MinMaxScaler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203911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</a:rPr>
              <a:t>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2258568"/>
            <a:ext cx="3520440" cy="438912"/>
          </a:xfrm>
          <a:prstGeom prst="rect">
            <a:avLst/>
          </a:prstGeom>
          <a:solidFill>
            <a:srgbClr val="EBF0F8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258568"/>
            <a:ext cx="352044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2.  PCA (95% variance)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269748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</a:rPr>
              <a:t>▼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2916936"/>
            <a:ext cx="3520440" cy="438912"/>
          </a:xfrm>
          <a:prstGeom prst="rect">
            <a:avLst/>
          </a:prstGeom>
          <a:solidFill>
            <a:srgbClr val="EBF0F8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916936"/>
            <a:ext cx="352044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3.  Logistic Regression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34290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B4C4"/>
                </a:solidFill>
              </a:rPr>
              <a:t>Unsupervised reduction vs supervised selection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06240" y="2194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Results — Pipeline A vs Pipeline 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</a:rPr>
              <a:t>Supervised feature selection outperforms PCA on clinical data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solidFill>
            <a:srgbClr val="1B2F45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</a:rPr>
              <a:t>DS2 KEY FINDING: Pipeline A achieves 100% accuracy vs Pipeline B's 70.4%  —  a 29.6% accuracy gap &amp; 29.7% PR-AUC gap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057400"/>
          <a:ext cx="8412480" cy="265176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914400"/>
                <a:gridCol w="822960"/>
                <a:gridCol w="914400"/>
                <a:gridCol w="822960"/>
                <a:gridCol w="822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Pipeline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PR-AUC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DS1 — UCI (178 feat.)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Pipeline 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0.051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0.026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0.445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DS1 — UCI (178 feat.)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Pipeline 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0.043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0.022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0.453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DS2 — Clinical (33 feat.)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Pipeline 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1.000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1.000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1.000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1.000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1.000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DS2 — Clinical (33 feat.)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</a:rPr>
                        <a:t>Pipeline 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</a:rPr>
                        <a:t>0.704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</a:rPr>
                        <a:t>0.827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</a:rPr>
                        <a:t>0.703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DS3 — Statistical (11 feat.)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Pipeline 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DS3 — Statistical (11 feat.)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Pipeline 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0.975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0.974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Overfitting &amp; Underfitting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</a:rPr>
              <a:t>Regularisation strength C varied across 10 values on DS1 (Pipeline A)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96012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960120"/>
            <a:ext cx="29260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52160" y="960120"/>
            <a:ext cx="292608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6"/>
          <p:cNvSpPr/>
          <p:nvPr/>
        </p:nvSpPr>
        <p:spPr>
          <a:xfrm>
            <a:off x="5852160" y="960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 Value Status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0" y="1417320"/>
            <a:ext cx="128016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1e-5 / 1e-4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269480" y="1453896"/>
            <a:ext cx="1371600" cy="219456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2" name="Text 9"/>
          <p:cNvSpPr/>
          <p:nvPr/>
        </p:nvSpPr>
        <p:spPr>
          <a:xfrm>
            <a:off x="7269480" y="14538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UNDERFIT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943600" y="1737360"/>
            <a:ext cx="128016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0.001 → 0.01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269480" y="1773936"/>
            <a:ext cx="1371600" cy="219456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5" name="Text 12"/>
          <p:cNvSpPr/>
          <p:nvPr/>
        </p:nvSpPr>
        <p:spPr>
          <a:xfrm>
            <a:off x="7269480" y="17739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UNDERFIT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0" y="2057400"/>
            <a:ext cx="128016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0.1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269480" y="2093976"/>
            <a:ext cx="1371600" cy="219456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8" name="Text 15"/>
          <p:cNvSpPr/>
          <p:nvPr/>
        </p:nvSpPr>
        <p:spPr>
          <a:xfrm>
            <a:off x="7269480" y="20939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UNDERFIT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943600" y="2377440"/>
            <a:ext cx="128016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1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269480" y="2414016"/>
            <a:ext cx="1371600" cy="21945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8"/>
          <p:cNvSpPr/>
          <p:nvPr/>
        </p:nvSpPr>
        <p:spPr>
          <a:xfrm>
            <a:off x="7269480" y="24140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Borderline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943600" y="2697480"/>
            <a:ext cx="128016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10 → 100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269480" y="2734056"/>
            <a:ext cx="1371600" cy="21945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1"/>
          <p:cNvSpPr/>
          <p:nvPr/>
        </p:nvSpPr>
        <p:spPr>
          <a:xfrm>
            <a:off x="7269480" y="27340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Borderline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943600" y="3017520"/>
            <a:ext cx="128016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1000+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269480" y="3054096"/>
            <a:ext cx="1371600" cy="21945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4"/>
          <p:cNvSpPr/>
          <p:nvPr/>
        </p:nvSpPr>
        <p:spPr>
          <a:xfrm>
            <a:off x="7269480" y="30540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Borderline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897880" y="3429000"/>
            <a:ext cx="27432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B4C4"/>
                </a:solidFill>
              </a:rPr>
              <a:t>No classic overfit gap observed — DS1 raw EEG features lack linear separability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EBF8F6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Key insight: EEG time-series features in DS1 are fundamentally difficult to separate linearly — the challenge is feature design, not regularisation choice.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Regularisation Study — L1 vs L2 vs Elastic Net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</a:rPr>
              <a:t>Weight sparsity, F1 scores, and generalisation across datasets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960120"/>
          <a:ext cx="49377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0" y="960120"/>
            <a:ext cx="329184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0" y="960120"/>
            <a:ext cx="329184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0" y="960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Findings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77840" y="1463040"/>
            <a:ext cx="438912" cy="4389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5577840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80760" y="146304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Most consistent generalisation — recommended default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77840" y="2121408"/>
            <a:ext cx="438912" cy="43891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5577840" y="2121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80760" y="21214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95% sparsity on DS2 — only a few features needed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577840" y="2779776"/>
            <a:ext cx="438912" cy="43891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5577840" y="2779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80760" y="277977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Intermediate sparsity, no consistent F1 advantage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577840" y="2743200"/>
            <a:ext cx="31089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B4C4"/>
                </a:solidFill>
              </a:rPr>
              <a:t>On DS1: all 3 regularisers produce F1 ≈ 0.034–0.038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A0B4C4"/>
                </a:solidFill>
              </a:rPr>
              <a:t>Challenge = feature type, not regulariser choice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069080"/>
          <a:ext cx="4937760" cy="86868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234440"/>
                <a:gridCol w="1234440"/>
              </a:tblGrid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Sparse%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DS1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0.034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3.3%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DS1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0.038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DS2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95.0%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DS3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DS3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0.976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75.0%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Class Imbalance Handling — DS2 (Clinical)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</a:rPr>
              <a:t>SMOTE · Undersampling · Class Weighting compared on DS1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05840"/>
          <a:ext cx="53035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1005840"/>
            <a:ext cx="29260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0" y="1042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No Handling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0" y="12801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4"/>
                </a:solidFill>
              </a:rPr>
              <a:t>Recall: ~2-3%  ·  Acc: ~80%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0" y="1490472"/>
            <a:ext cx="64008" cy="164592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6053328" y="149047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444"/>
                </a:solidFill>
              </a:rPr>
              <a:t>Poor recall — dangerous clinically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852160" y="1810512"/>
            <a:ext cx="29260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43600" y="1847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SMOTE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0" y="20848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4"/>
                </a:solidFill>
              </a:rPr>
              <a:t>Recall: ~43%  ·  Acc: ~64%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43600" y="2295144"/>
            <a:ext cx="64008" cy="16459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3"/>
          <p:cNvSpPr/>
          <p:nvPr/>
        </p:nvSpPr>
        <p:spPr>
          <a:xfrm>
            <a:off x="6053328" y="229514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Best recall gain; synthetic samples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852160" y="2615184"/>
            <a:ext cx="29260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943600" y="2651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Undersampling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43600" y="28895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4"/>
                </a:solidFill>
              </a:rPr>
              <a:t>Recall: ~43%  ·  Acc: ~64%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943600" y="3099816"/>
            <a:ext cx="64008" cy="1645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8"/>
          <p:cNvSpPr/>
          <p:nvPr/>
        </p:nvSpPr>
        <p:spPr>
          <a:xfrm>
            <a:off x="6053328" y="309981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Good recall; loses real data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852160" y="3419856"/>
            <a:ext cx="29260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943600" y="3456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Class Weight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943600" y="36941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4"/>
                </a:solidFill>
              </a:rPr>
              <a:t>Recall: ~43%  ·  Acc: ~67%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0" y="3904488"/>
            <a:ext cx="64008" cy="16459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3"/>
          <p:cNvSpPr/>
          <p:nvPr/>
        </p:nvSpPr>
        <p:spPr>
          <a:xfrm>
            <a:off x="6053328" y="39044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Recommended — no synthetic data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65760" y="4160520"/>
            <a:ext cx="8412480" cy="713232"/>
          </a:xfrm>
          <a:prstGeom prst="rect">
            <a:avLst/>
          </a:prstGeom>
          <a:solidFill>
            <a:srgbClr val="EBF8F6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4160520"/>
            <a:ext cx="82296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</a:rPr>
              <a:t>Medical priority: Maximise Recall — a missed seizure is more dangerous than a false alarm.  Class Weighting preferred: avoids synthetic samples that may not reflect real seizure physiology.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Comprehensive Grid — 27 Experiments (DS1)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</a:rPr>
              <a:t>3 datasets × 3 regularisers × 3 imbalance strategies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0584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005840"/>
            <a:ext cx="3108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0" y="1005840"/>
            <a:ext cx="73152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5833872" y="10789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Imbalance strategy dominates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33872" y="139903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4"/>
                </a:solidFill>
              </a:rPr>
              <a:t>SMOTE &amp; Class Weighting raise Recall from ~2% to ~43% regardless of regulariser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69280" y="2057400"/>
            <a:ext cx="3108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0" y="2057400"/>
            <a:ext cx="73152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5833872" y="21305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PR-AUC ≈ equivalent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33872" y="245059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4"/>
                </a:solidFill>
              </a:rPr>
              <a:t>SMOTE vs Class Weighting produce nearly identical PR-AUC (~0.42) on DS1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669280" y="3108960"/>
            <a:ext cx="3108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0" y="3108960"/>
            <a:ext cx="73152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/>
          <p:nvPr/>
        </p:nvSpPr>
        <p:spPr>
          <a:xfrm>
            <a:off x="5833872" y="31821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DS2 &amp; DS3 all perfect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833872" y="350215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4"/>
                </a:solidFill>
              </a:rPr>
              <a:t>All 18 remaining configs score F1=1.000 — challenge is in DS1's feature type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65760" y="4206240"/>
            <a:ext cx="8412480" cy="658368"/>
          </a:xfrm>
          <a:prstGeom prst="rect">
            <a:avLst/>
          </a:prstGeom>
          <a:solidFill>
            <a:srgbClr val="1B2F45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57200" y="42062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</a:rPr>
              <a:t>Conclusion: On linearly non-separable data (DS1), imbalance correction matters far more than regulariser choice for clinical Recall.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896"/>
                </a:solidFill>
              </a:rPr>
              <a:t>Key Findings Across All 27 Experiments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640080" cy="6583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RQ1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51560" y="1188720"/>
            <a:ext cx="7726680" cy="658368"/>
          </a:xfrm>
          <a:prstGeom prst="rect">
            <a:avLst/>
          </a:prstGeom>
          <a:solidFill>
            <a:srgbClr val="1B2F4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188720"/>
            <a:ext cx="75438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Preprocessing order matters: Pipeline A outperforms B on DS2 by 29.6% accuracy — supervised feature selection preserves clinical signal better than PCA.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39112"/>
            <a:ext cx="64008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03911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RQ2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2039112"/>
            <a:ext cx="7726680" cy="658368"/>
          </a:xfrm>
          <a:prstGeom prst="rect">
            <a:avLst/>
          </a:prstGeom>
          <a:solidFill>
            <a:srgbClr val="1B2F45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2039112"/>
            <a:ext cx="75438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L2 (Ridge) generalises most consistently across all datasets — recommended default for EEG classification with Logistic Regression.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89504"/>
            <a:ext cx="640080" cy="6583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88950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RQ3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889504"/>
            <a:ext cx="7726680" cy="658368"/>
          </a:xfrm>
          <a:prstGeom prst="rect">
            <a:avLst/>
          </a:prstGeom>
          <a:solidFill>
            <a:srgbClr val="1B2F45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2889504"/>
            <a:ext cx="75438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Elastic Net does NOT consistently outperform L1 or L2. Intermediate sparsity yields no performance advantage while adding l1_ratio complexity.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39896"/>
            <a:ext cx="640080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73989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RQ4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3739896"/>
            <a:ext cx="7726680" cy="658368"/>
          </a:xfrm>
          <a:prstGeom prst="rect">
            <a:avLst/>
          </a:prstGeom>
          <a:solidFill>
            <a:srgbClr val="1B2F45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3739896"/>
            <a:ext cx="75438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Imbalance handling dominates regularisation on high-imbalance data. Class Weighting preferred — avoids synthetic samples, boosts Recall from ~2% to ~43%.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A896"/>
                </a:solidFill>
              </a:rPr>
              <a:t>Future work: Non-linear classifiers · Patient-independent cross-validation · Multi-channel EEG feature extraction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Seizure Prediction Using EEG Data</dc:title>
  <dc:subject>PptxGenJS Presentation</dc:subject>
  <dc:creator>Muhammad Ali Haider</dc:creator>
  <cp:lastModifiedBy>Muhammad Ali Haider</cp:lastModifiedBy>
  <cp:revision>1</cp:revision>
  <dcterms:created xsi:type="dcterms:W3CDTF">2026-05-17T10:43:48Z</dcterms:created>
  <dcterms:modified xsi:type="dcterms:W3CDTF">2026-05-17T10:43:48Z</dcterms:modified>
</cp:coreProperties>
</file>